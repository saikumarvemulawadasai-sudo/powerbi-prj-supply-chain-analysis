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9" r:id="rId1"/>
  </p:sldMasterIdLst>
  <p:sldIdLst>
    <p:sldId id="267" r:id="rId2"/>
    <p:sldId id="263" r:id="rId3"/>
    <p:sldId id="256" r:id="rId4"/>
    <p:sldId id="268" r:id="rId5"/>
    <p:sldId id="266" r:id="rId6"/>
    <p:sldId id="258" r:id="rId7"/>
    <p:sldId id="259" r:id="rId8"/>
    <p:sldId id="261" r:id="rId9"/>
    <p:sldId id="262" r:id="rId10"/>
    <p:sldId id="257" r:id="rId11"/>
    <p:sldId id="264"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60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1102780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380632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907380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723998-23AB-4D29-900B-5067501D1C02}"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3671998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723998-23AB-4D29-900B-5067501D1C02}" type="datetimeFigureOut">
              <a:rPr lang="en-IN" smtClean="0"/>
              <a:t>22-02-2026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3418898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516521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4268035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4035306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723998-23AB-4D29-900B-5067501D1C02}"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410684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723998-23AB-4D29-900B-5067501D1C02}"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2171261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905857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98116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2630415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39947922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1532058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1267834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723998-23AB-4D29-900B-5067501D1C02}"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4E3856-8095-4716-9C5E-C4927A194376}" type="slidenum">
              <a:rPr lang="en-IN" smtClean="0"/>
              <a:t>‹#›</a:t>
            </a:fld>
            <a:endParaRPr lang="en-IN"/>
          </a:p>
        </p:txBody>
      </p:sp>
    </p:spTree>
    <p:extLst>
      <p:ext uri="{BB962C8B-B14F-4D97-AF65-F5344CB8AC3E}">
        <p14:creationId xmlns:p14="http://schemas.microsoft.com/office/powerpoint/2010/main" val="524894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7723998-23AB-4D29-900B-5067501D1C02}" type="datetimeFigureOut">
              <a:rPr lang="en-IN" smtClean="0"/>
              <a:t>22-02-2026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24E3856-8095-4716-9C5E-C4927A194376}" type="slidenum">
              <a:rPr lang="en-IN" smtClean="0"/>
              <a:t>‹#›</a:t>
            </a:fld>
            <a:endParaRPr lang="en-IN"/>
          </a:p>
        </p:txBody>
      </p:sp>
    </p:spTree>
    <p:extLst>
      <p:ext uri="{BB962C8B-B14F-4D97-AF65-F5344CB8AC3E}">
        <p14:creationId xmlns:p14="http://schemas.microsoft.com/office/powerpoint/2010/main" val="359477907"/>
      </p:ext>
    </p:extLst>
  </p:cSld>
  <p:clrMap bg1="dk1" tx1="lt1" bg2="dk2" tx2="lt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 id="2147483938" r:id="rId9"/>
    <p:sldLayoutId id="2147483939" r:id="rId10"/>
    <p:sldLayoutId id="2147483940" r:id="rId11"/>
    <p:sldLayoutId id="2147483941" r:id="rId12"/>
    <p:sldLayoutId id="2147483942" r:id="rId13"/>
    <p:sldLayoutId id="2147483943" r:id="rId14"/>
    <p:sldLayoutId id="2147483944" r:id="rId15"/>
    <p:sldLayoutId id="2147483945" r:id="rId16"/>
    <p:sldLayoutId id="214748394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DC23B-1454-463B-CF88-F545F45D70E4}"/>
              </a:ext>
            </a:extLst>
          </p:cNvPr>
          <p:cNvSpPr>
            <a:spLocks noGrp="1"/>
          </p:cNvSpPr>
          <p:nvPr>
            <p:ph type="title"/>
          </p:nvPr>
        </p:nvSpPr>
        <p:spPr>
          <a:xfrm>
            <a:off x="338138" y="1310186"/>
            <a:ext cx="9911331" cy="841496"/>
          </a:xfrm>
        </p:spPr>
        <p:txBody>
          <a:bodyPr>
            <a:noAutofit/>
          </a:bodyPr>
          <a:lstStyle/>
          <a:p>
            <a:r>
              <a:rPr lang="en-US" sz="2400" b="1" dirty="0">
                <a:solidFill>
                  <a:schemeClr val="tx1"/>
                </a:solidFill>
                <a:latin typeface="Times New Roman" panose="02020603050405020304" pitchFamily="18" charset="0"/>
                <a:cs typeface="Times New Roman" panose="02020603050405020304" pitchFamily="18" charset="0"/>
              </a:rPr>
              <a:t> Project Team ID: </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n-IN" sz="2400" dirty="0">
                <a:solidFill>
                  <a:schemeClr val="tx1"/>
                </a:solidFill>
                <a:latin typeface="Times New Roman" panose="02020603050405020304" pitchFamily="18" charset="0"/>
                <a:cs typeface="Times New Roman" panose="02020603050405020304" pitchFamily="18" charset="0"/>
              </a:rPr>
              <a:t>PTID-CDA-DEC-1016</a:t>
            </a:r>
            <a:br>
              <a:rPr lang="en-IN" sz="2400"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C52B482-AE82-0835-FE83-80E120C058FF}"/>
              </a:ext>
            </a:extLst>
          </p:cNvPr>
          <p:cNvSpPr>
            <a:spLocks noGrp="1"/>
          </p:cNvSpPr>
          <p:nvPr>
            <p:ph idx="1"/>
          </p:nvPr>
        </p:nvSpPr>
        <p:spPr>
          <a:xfrm>
            <a:off x="338138" y="2251881"/>
            <a:ext cx="11644596" cy="4282389"/>
          </a:xfrm>
        </p:spPr>
        <p:txBody>
          <a:bodyPr>
            <a:normAutofit fontScale="62500" lnSpcReduction="20000"/>
          </a:bodyPr>
          <a:lstStyle/>
          <a:p>
            <a:pPr marL="0" indent="0">
              <a:buNone/>
            </a:pPr>
            <a:r>
              <a:rPr lang="en-US" sz="3400" b="1"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Project Code: </a:t>
            </a:r>
            <a:r>
              <a:rPr lang="en-IN" sz="3800" dirty="0">
                <a:effectLst/>
                <a:latin typeface="Times New Roman" panose="02020603050405020304" pitchFamily="18" charset="0"/>
                <a:cs typeface="Times New Roman" panose="02020603050405020304" pitchFamily="18" charset="0"/>
              </a:rPr>
              <a:t>CDACL-003</a:t>
            </a:r>
            <a:endParaRPr lang="en-IN" sz="3400" dirty="0">
              <a:effectLst/>
              <a:latin typeface="Times New Roman" panose="02020603050405020304" pitchFamily="18" charset="0"/>
              <a:cs typeface="Times New Roman" panose="02020603050405020304" pitchFamily="18" charset="0"/>
            </a:endParaRPr>
          </a:p>
          <a:p>
            <a:pPr marL="0" indent="0">
              <a:buNone/>
            </a:pPr>
            <a:endParaRPr lang="en-IN" i="0" dirty="0">
              <a:solidFill>
                <a:srgbClr val="222222"/>
              </a:solidFill>
              <a:effectLst/>
              <a:latin typeface="Arial" panose="020B0604020202020204" pitchFamily="34" charset="0"/>
              <a:cs typeface="Arial" panose="020B0604020202020204" pitchFamily="34" charset="0"/>
            </a:endParaRPr>
          </a:p>
          <a:p>
            <a:pPr marL="0" indent="0">
              <a:buNone/>
            </a:pPr>
            <a:r>
              <a:rPr lang="en-US" b="1" dirty="0"/>
              <a:t>                                                                                             </a:t>
            </a:r>
            <a:r>
              <a:rPr lang="en-US" sz="4000" b="1" dirty="0">
                <a:latin typeface="Times New Roman" panose="02020603050405020304" pitchFamily="18" charset="0"/>
                <a:cs typeface="Times New Roman" panose="02020603050405020304" pitchFamily="18" charset="0"/>
              </a:rPr>
              <a:t>Team Members:    </a:t>
            </a:r>
          </a:p>
          <a:p>
            <a:pPr marL="0" indent="0">
              <a:buNone/>
            </a:pPr>
            <a:r>
              <a:rPr lang="en-US" sz="2900" b="1" dirty="0">
                <a:latin typeface="Times New Roman" panose="02020603050405020304" pitchFamily="18" charset="0"/>
                <a:cs typeface="Times New Roman" panose="02020603050405020304" pitchFamily="18" charset="0"/>
              </a:rPr>
              <a:t>   MANI KUMAR GOUD :  manikumar015@gmail.com</a:t>
            </a:r>
          </a:p>
          <a:p>
            <a:pPr marL="0" indent="0">
              <a:buNone/>
            </a:pPr>
            <a:r>
              <a:rPr lang="en-US" sz="2900" b="1" dirty="0">
                <a:latin typeface="Times New Roman" panose="02020603050405020304" pitchFamily="18" charset="0"/>
                <a:cs typeface="Times New Roman" panose="02020603050405020304" pitchFamily="18" charset="0"/>
              </a:rPr>
              <a:t>  VEMULAWADA SAIKUMAR :  saikumarvemulawada@gmail.com</a:t>
            </a:r>
          </a:p>
          <a:p>
            <a:pPr marL="0" indent="0">
              <a:buNone/>
            </a:pPr>
            <a:r>
              <a:rPr lang="en-US" sz="2900" b="1" dirty="0">
                <a:latin typeface="Times New Roman" panose="02020603050405020304" pitchFamily="18" charset="0"/>
                <a:cs typeface="Times New Roman" panose="02020603050405020304" pitchFamily="18" charset="0"/>
              </a:rPr>
              <a:t>  MUTHYALA DISHITH </a:t>
            </a:r>
            <a:r>
              <a:rPr lang="en-US" sz="2900" b="1">
                <a:latin typeface="Times New Roman" panose="02020603050405020304" pitchFamily="18" charset="0"/>
                <a:cs typeface="Times New Roman" panose="02020603050405020304" pitchFamily="18" charset="0"/>
              </a:rPr>
              <a:t>:  muthyaladikshith24</a:t>
            </a:r>
            <a:r>
              <a:rPr lang="en-US" sz="2900" b="1" dirty="0">
                <a:latin typeface="Times New Roman" panose="02020603050405020304" pitchFamily="18" charset="0"/>
                <a:cs typeface="Times New Roman" panose="02020603050405020304" pitchFamily="18" charset="0"/>
              </a:rPr>
              <a:t>@gmail.com</a:t>
            </a:r>
          </a:p>
          <a:p>
            <a:pPr marL="0" indent="0">
              <a:buNone/>
            </a:pPr>
            <a:r>
              <a:rPr lang="en-US" sz="2900" b="1" dirty="0">
                <a:latin typeface="Times New Roman" panose="02020603050405020304" pitchFamily="18" charset="0"/>
                <a:cs typeface="Times New Roman" panose="02020603050405020304" pitchFamily="18" charset="0"/>
              </a:rPr>
              <a:t>  MUTTHINA JOGINDHAR VENKATA SAI CHOUDARI :  saichowdarymuthina@gmail.com</a:t>
            </a:r>
          </a:p>
          <a:p>
            <a:pPr marL="0" indent="0">
              <a:buNone/>
            </a:pPr>
            <a:endParaRPr lang="en-US" sz="2900" b="1" dirty="0">
              <a:latin typeface="Times New Roman" panose="02020603050405020304" pitchFamily="18" charset="0"/>
              <a:cs typeface="Times New Roman" panose="02020603050405020304" pitchFamily="18" charset="0"/>
            </a:endParaRP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IN" dirty="0"/>
              <a:t> </a:t>
            </a:r>
          </a:p>
        </p:txBody>
      </p:sp>
      <p:sp>
        <p:nvSpPr>
          <p:cNvPr id="4" name="Title 10">
            <a:extLst>
              <a:ext uri="{FF2B5EF4-FFF2-40B4-BE49-F238E27FC236}">
                <a16:creationId xmlns:a16="http://schemas.microsoft.com/office/drawing/2014/main" id="{7BEA26EB-5452-46BB-8D30-653A5CD91A2E}"/>
              </a:ext>
            </a:extLst>
          </p:cNvPr>
          <p:cNvSpPr txBox="1">
            <a:spLocks/>
          </p:cNvSpPr>
          <p:nvPr/>
        </p:nvSpPr>
        <p:spPr>
          <a:xfrm>
            <a:off x="171994" y="242431"/>
            <a:ext cx="9860280" cy="707886"/>
          </a:xfrm>
          <a:prstGeom prst="rect">
            <a:avLst/>
          </a:prstGeom>
          <a:ln w="9525" cap="rnd" cmpd="sng" algn="ctr">
            <a:solidFill>
              <a:srgbClr val="993300"/>
            </a:solidFill>
            <a:prstDash val="soli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rtlCol="0" anchor="t">
            <a:spAutoFit/>
          </a:bodyPr>
          <a:lstStyle>
            <a:lvl1pPr algn="l" defTabSz="457200" rtl="0" eaLnBrk="1" latinLnBrk="0" hangingPunct="1">
              <a:spcBef>
                <a:spcPct val="0"/>
              </a:spcBef>
              <a:buNone/>
              <a:defRPr sz="4200" b="0" i="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IN" sz="4000">
                <a:latin typeface="Times New Roman" panose="02020603050405020304" pitchFamily="18" charset="0"/>
                <a:cs typeface="Times New Roman" panose="02020603050405020304" pitchFamily="18" charset="0"/>
              </a:rPr>
              <a:t>TOPIC : SUPPLY CHAIN ANALYIS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5792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EBE20-BE78-1C8F-C16F-B59B99129119}"/>
              </a:ext>
            </a:extLst>
          </p:cNvPr>
          <p:cNvSpPr>
            <a:spLocks noGrp="1"/>
          </p:cNvSpPr>
          <p:nvPr>
            <p:ph type="title"/>
          </p:nvPr>
        </p:nvSpPr>
        <p:spPr>
          <a:xfrm>
            <a:off x="2562403" y="2119732"/>
            <a:ext cx="7273343" cy="1822911"/>
          </a:xfrm>
        </p:spPr>
        <p:style>
          <a:lnRef idx="1">
            <a:schemeClr val="accent4"/>
          </a:lnRef>
          <a:fillRef idx="2">
            <a:schemeClr val="accent4"/>
          </a:fillRef>
          <a:effectRef idx="1">
            <a:schemeClr val="accent4"/>
          </a:effectRef>
          <a:fontRef idx="minor">
            <a:schemeClr val="dk1"/>
          </a:fontRef>
        </p:style>
        <p:txBody>
          <a:bodyPr>
            <a:noAutofit/>
          </a:bodyPr>
          <a:lstStyle/>
          <a:p>
            <a:pPr algn="ctr"/>
            <a:r>
              <a:rPr lang="en-IN" sz="5000" b="1" dirty="0">
                <a:ln w="13462">
                  <a:solidFill>
                    <a:schemeClr val="bg1"/>
                  </a:solidFill>
                  <a:prstDash val="solid"/>
                </a:ln>
                <a:solidFill>
                  <a:schemeClr val="bg1"/>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SUPPLY CHAIN ANALYSIS</a:t>
            </a:r>
          </a:p>
        </p:txBody>
      </p:sp>
      <p:pic>
        <p:nvPicPr>
          <p:cNvPr id="4" name="Picture 2" descr="Services vs manufacturing: How end-to-end should a Value Stream Map be">
            <a:extLst>
              <a:ext uri="{FF2B5EF4-FFF2-40B4-BE49-F238E27FC236}">
                <a16:creationId xmlns:a16="http://schemas.microsoft.com/office/drawing/2014/main" id="{A08893B2-EA1F-C0DF-F7F7-2000B0F734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59773"/>
            <a:ext cx="1728788" cy="1466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234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DA7516-407D-7F58-8A10-9CC5C8E154C8}"/>
              </a:ext>
            </a:extLst>
          </p:cNvPr>
          <p:cNvSpPr txBox="1"/>
          <p:nvPr/>
        </p:nvSpPr>
        <p:spPr>
          <a:xfrm>
            <a:off x="3048000" y="2277296"/>
            <a:ext cx="6096000" cy="369332"/>
          </a:xfrm>
          <a:prstGeom prst="rect">
            <a:avLst/>
          </a:prstGeom>
          <a:noFill/>
        </p:spPr>
        <p:txBody>
          <a:bodyPr wrap="square">
            <a:spAutoFit/>
          </a:bodyPr>
          <a:lstStyle/>
          <a:p>
            <a:endParaRPr lang="en-IN" dirty="0"/>
          </a:p>
        </p:txBody>
      </p:sp>
      <p:pic>
        <p:nvPicPr>
          <p:cNvPr id="9" name="Picture 8">
            <a:extLst>
              <a:ext uri="{FF2B5EF4-FFF2-40B4-BE49-F238E27FC236}">
                <a16:creationId xmlns:a16="http://schemas.microsoft.com/office/drawing/2014/main" id="{1FB3BA2F-3F67-4A0C-5DA6-36DD2336B14F}"/>
              </a:ext>
            </a:extLst>
          </p:cNvPr>
          <p:cNvPicPr>
            <a:picLocks noChangeAspect="1"/>
          </p:cNvPicPr>
          <p:nvPr/>
        </p:nvPicPr>
        <p:blipFill>
          <a:blip r:embed="rId2"/>
          <a:stretch>
            <a:fillRect/>
          </a:stretch>
        </p:blipFill>
        <p:spPr>
          <a:xfrm>
            <a:off x="3047736" y="3246104"/>
            <a:ext cx="6096528" cy="365792"/>
          </a:xfrm>
          <a:prstGeom prst="rect">
            <a:avLst/>
          </a:prstGeom>
        </p:spPr>
      </p:pic>
      <p:sp>
        <p:nvSpPr>
          <p:cNvPr id="11" name="Title 10">
            <a:extLst>
              <a:ext uri="{FF2B5EF4-FFF2-40B4-BE49-F238E27FC236}">
                <a16:creationId xmlns:a16="http://schemas.microsoft.com/office/drawing/2014/main" id="{5D42C5CB-BC8E-510F-B16E-D5CBBB962AFD}"/>
              </a:ext>
            </a:extLst>
          </p:cNvPr>
          <p:cNvSpPr txBox="1">
            <a:spLocks noGrp="1"/>
          </p:cNvSpPr>
          <p:nvPr>
            <p:ph type="title"/>
          </p:nvPr>
        </p:nvSpPr>
        <p:spPr>
          <a:xfrm>
            <a:off x="171994" y="242431"/>
            <a:ext cx="9860280" cy="707886"/>
          </a:xfrm>
          <a:prstGeom prst="rect">
            <a:avLst/>
          </a:prstGeom>
          <a:ln>
            <a:solidFill>
              <a:srgbClr val="993300"/>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en-IN" sz="4000" dirty="0">
                <a:latin typeface="Times New Roman" panose="02020603050405020304" pitchFamily="18" charset="0"/>
                <a:cs typeface="Times New Roman" panose="02020603050405020304" pitchFamily="18" charset="0"/>
              </a:rPr>
              <a:t>TOPIC : SUPPLY CHAIN ANALYIS</a:t>
            </a:r>
          </a:p>
        </p:txBody>
      </p:sp>
      <p:sp>
        <p:nvSpPr>
          <p:cNvPr id="13" name="TextBox 12">
            <a:extLst>
              <a:ext uri="{FF2B5EF4-FFF2-40B4-BE49-F238E27FC236}">
                <a16:creationId xmlns:a16="http://schemas.microsoft.com/office/drawing/2014/main" id="{ADF8A17A-1033-8F74-C950-BBDA512E9AB2}"/>
              </a:ext>
            </a:extLst>
          </p:cNvPr>
          <p:cNvSpPr txBox="1"/>
          <p:nvPr/>
        </p:nvSpPr>
        <p:spPr>
          <a:xfrm>
            <a:off x="171994" y="1195850"/>
            <a:ext cx="11578728" cy="5570756"/>
          </a:xfrm>
          <a:prstGeom prst="rect">
            <a:avLst/>
          </a:prstGeom>
          <a:noFill/>
        </p:spPr>
        <p:txBody>
          <a:bodyPr wrap="square">
            <a:spAutoFit/>
          </a:bodyPr>
          <a:lstStyle/>
          <a:p>
            <a:pPr algn="ctr"/>
            <a:r>
              <a:rPr lang="en-US" sz="2800" b="1" dirty="0">
                <a:solidFill>
                  <a:schemeClr val="bg1"/>
                </a:solidFill>
                <a:effectLst/>
                <a:latin typeface="Times New Roman" panose="02020603050405020304" pitchFamily="18" charset="0"/>
                <a:cs typeface="Times New Roman" panose="02020603050405020304" pitchFamily="18" charset="0"/>
              </a:rPr>
              <a:t>Attributes Information</a:t>
            </a:r>
          </a:p>
          <a:p>
            <a:pPr algn="ctr"/>
            <a:r>
              <a:rPr lang="en-US" sz="2800" b="1" dirty="0">
                <a:solidFill>
                  <a:schemeClr val="bg1"/>
                </a:solidFill>
                <a:effectLst/>
                <a:latin typeface="Times New Roman" panose="02020603050405020304" pitchFamily="18" charset="0"/>
                <a:cs typeface="Times New Roman" panose="02020603050405020304" pitchFamily="18" charset="0"/>
              </a:rPr>
              <a:t> </a:t>
            </a:r>
            <a:endParaRPr lang="en-US" sz="2800" b="1" dirty="0">
              <a:solidFill>
                <a:schemeClr val="bg1"/>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cs typeface="Times New Roman" panose="02020603050405020304" pitchFamily="18" charset="0"/>
              </a:rPr>
              <a:t>Product type</a:t>
            </a:r>
            <a:r>
              <a:rPr lang="en-US" sz="2000" dirty="0">
                <a:effectLst/>
                <a:latin typeface="Times New Roman" panose="02020603050405020304" pitchFamily="18" charset="0"/>
                <a:cs typeface="Times New Roman" panose="02020603050405020304" pitchFamily="18" charset="0"/>
              </a:rPr>
              <a:t>: The type or category of the product being sold, which could include classifications such as electronics, clothing, household goods, etc.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2. </a:t>
            </a:r>
            <a:r>
              <a:rPr lang="en-US" sz="2000" b="1" dirty="0">
                <a:effectLst/>
                <a:latin typeface="Times New Roman" panose="02020603050405020304" pitchFamily="18" charset="0"/>
                <a:cs typeface="Times New Roman" panose="02020603050405020304" pitchFamily="18" charset="0"/>
              </a:rPr>
              <a:t>SKU</a:t>
            </a:r>
            <a:r>
              <a:rPr lang="en-US" sz="2000" dirty="0">
                <a:effectLst/>
                <a:latin typeface="Times New Roman" panose="02020603050405020304" pitchFamily="18" charset="0"/>
                <a:cs typeface="Times New Roman" panose="02020603050405020304" pitchFamily="18" charset="0"/>
              </a:rPr>
              <a:t>: Stock Keeping Unit, a unique code assigned to each distinct product or item for inventory tracking and management.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3. </a:t>
            </a:r>
            <a:r>
              <a:rPr lang="en-US" sz="2000" b="1" dirty="0">
                <a:effectLst/>
                <a:latin typeface="Times New Roman" panose="02020603050405020304" pitchFamily="18" charset="0"/>
                <a:cs typeface="Times New Roman" panose="02020603050405020304" pitchFamily="18" charset="0"/>
              </a:rPr>
              <a:t>Price</a:t>
            </a:r>
            <a:r>
              <a:rPr lang="en-US" sz="2000" dirty="0">
                <a:effectLst/>
                <a:latin typeface="Times New Roman" panose="02020603050405020304" pitchFamily="18" charset="0"/>
                <a:cs typeface="Times New Roman" panose="02020603050405020304" pitchFamily="18" charset="0"/>
              </a:rPr>
              <a:t>: The price of the product, typically in the currency of the country where the purchase is made (e.g., USD for United States).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4. </a:t>
            </a:r>
            <a:r>
              <a:rPr lang="en-US" sz="2000" b="1" dirty="0">
                <a:effectLst/>
                <a:latin typeface="Times New Roman" panose="02020603050405020304" pitchFamily="18" charset="0"/>
                <a:cs typeface="Times New Roman" panose="02020603050405020304" pitchFamily="18" charset="0"/>
              </a:rPr>
              <a:t>Availability</a:t>
            </a:r>
            <a:r>
              <a:rPr lang="en-US" sz="2000" dirty="0">
                <a:effectLst/>
                <a:latin typeface="Times New Roman" panose="02020603050405020304" pitchFamily="18" charset="0"/>
                <a:cs typeface="Times New Roman" panose="02020603050405020304" pitchFamily="18" charset="0"/>
              </a:rPr>
              <a:t>: Indicates whether the product is currently available for purchase or out of stock.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5. </a:t>
            </a:r>
            <a:r>
              <a:rPr lang="en-US" sz="2000" b="1" dirty="0">
                <a:effectLst/>
                <a:latin typeface="Times New Roman" panose="02020603050405020304" pitchFamily="18" charset="0"/>
                <a:cs typeface="Times New Roman" panose="02020603050405020304" pitchFamily="18" charset="0"/>
              </a:rPr>
              <a:t>Number of products sold</a:t>
            </a:r>
            <a:r>
              <a:rPr lang="en-US" sz="2000" dirty="0">
                <a:effectLst/>
                <a:latin typeface="Times New Roman" panose="02020603050405020304" pitchFamily="18" charset="0"/>
                <a:cs typeface="Times New Roman" panose="02020603050405020304" pitchFamily="18" charset="0"/>
              </a:rPr>
              <a:t>: The quantity of the product sold in a specific period, such as daily, monthly, or yearly.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6. </a:t>
            </a:r>
            <a:r>
              <a:rPr lang="en-US" sz="2000" b="1" dirty="0">
                <a:effectLst/>
                <a:latin typeface="Times New Roman" panose="02020603050405020304" pitchFamily="18" charset="0"/>
                <a:cs typeface="Times New Roman" panose="02020603050405020304" pitchFamily="18" charset="0"/>
              </a:rPr>
              <a:t>Revenue generated</a:t>
            </a:r>
            <a:r>
              <a:rPr lang="en-US" sz="2000" dirty="0">
                <a:effectLst/>
                <a:latin typeface="Times New Roman" panose="02020603050405020304" pitchFamily="18" charset="0"/>
                <a:cs typeface="Times New Roman" panose="02020603050405020304" pitchFamily="18" charset="0"/>
              </a:rPr>
              <a:t>: The total amount of revenue generated from selling the product, calculated by multiplying the       price by the number of products sold.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7. </a:t>
            </a:r>
            <a:r>
              <a:rPr lang="en-US" sz="2000" b="1" dirty="0">
                <a:effectLst/>
                <a:latin typeface="Times New Roman" panose="02020603050405020304" pitchFamily="18" charset="0"/>
                <a:cs typeface="Times New Roman" panose="02020603050405020304" pitchFamily="18" charset="0"/>
              </a:rPr>
              <a:t>Customer demographics</a:t>
            </a:r>
            <a:r>
              <a:rPr lang="en-US" sz="2000" dirty="0">
                <a:effectLst/>
                <a:latin typeface="Times New Roman" panose="02020603050405020304" pitchFamily="18" charset="0"/>
                <a:cs typeface="Times New Roman" panose="02020603050405020304" pitchFamily="18" charset="0"/>
              </a:rPr>
              <a:t>: Information about the customers' characteristics and attributes, such as age, gender, income level, etc.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8. </a:t>
            </a:r>
            <a:r>
              <a:rPr lang="en-US" sz="2000" b="1" dirty="0">
                <a:effectLst/>
                <a:latin typeface="Times New Roman" panose="02020603050405020304" pitchFamily="18" charset="0"/>
                <a:cs typeface="Times New Roman" panose="02020603050405020304" pitchFamily="18" charset="0"/>
              </a:rPr>
              <a:t>Stock levels</a:t>
            </a:r>
            <a:r>
              <a:rPr lang="en-US" sz="2000" dirty="0">
                <a:effectLst/>
                <a:latin typeface="Times New Roman" panose="02020603050405020304" pitchFamily="18" charset="0"/>
                <a:cs typeface="Times New Roman" panose="02020603050405020304" pitchFamily="18" charset="0"/>
              </a:rPr>
              <a:t>: The quantity of the product available in inventory at a given time. </a:t>
            </a:r>
            <a:endParaRPr lang="en-US" sz="2000" dirty="0">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9. </a:t>
            </a:r>
            <a:r>
              <a:rPr lang="en-US" sz="2000" b="1" dirty="0">
                <a:effectLst/>
                <a:latin typeface="Times New Roman" panose="02020603050405020304" pitchFamily="18" charset="0"/>
                <a:cs typeface="Times New Roman" panose="02020603050405020304" pitchFamily="18" charset="0"/>
              </a:rPr>
              <a:t>Lead times</a:t>
            </a:r>
            <a:r>
              <a:rPr lang="en-US" sz="2000" dirty="0">
                <a:effectLst/>
                <a:latin typeface="Times New Roman" panose="02020603050405020304" pitchFamily="18" charset="0"/>
                <a:cs typeface="Times New Roman" panose="02020603050405020304" pitchFamily="18" charset="0"/>
              </a:rPr>
              <a:t>: The time it takes from placing an order until the product is delivered to the customer.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934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EB7A-42E9-548B-81FF-E93B40583CE4}"/>
              </a:ext>
            </a:extLst>
          </p:cNvPr>
          <p:cNvSpPr>
            <a:spLocks noGrp="1"/>
          </p:cNvSpPr>
          <p:nvPr>
            <p:ph type="title"/>
          </p:nvPr>
        </p:nvSpPr>
        <p:spPr>
          <a:xfrm>
            <a:off x="204651" y="941696"/>
            <a:ext cx="11987349" cy="5589732"/>
          </a:xfrm>
        </p:spPr>
        <p:txBody>
          <a:bodyPr>
            <a:noAutofit/>
          </a:bodyPr>
          <a:lstStyle/>
          <a:p>
            <a:r>
              <a:rPr lang="en-US" sz="1800" dirty="0">
                <a:solidFill>
                  <a:schemeClr val="tx1"/>
                </a:solidFill>
                <a:effectLst/>
                <a:latin typeface="Times New Roman" panose="02020603050405020304" pitchFamily="18" charset="0"/>
                <a:cs typeface="Times New Roman" panose="02020603050405020304" pitchFamily="18" charset="0"/>
              </a:rPr>
              <a:t>10.</a:t>
            </a:r>
            <a:r>
              <a:rPr lang="en-US" sz="1800" b="1" dirty="0">
                <a:solidFill>
                  <a:schemeClr val="tx1"/>
                </a:solidFill>
                <a:effectLst/>
                <a:latin typeface="Times New Roman" panose="02020603050405020304" pitchFamily="18" charset="0"/>
                <a:cs typeface="Times New Roman" panose="02020603050405020304" pitchFamily="18" charset="0"/>
              </a:rPr>
              <a:t>Order quantities</a:t>
            </a:r>
            <a:r>
              <a:rPr lang="en-US" sz="1800" dirty="0">
                <a:solidFill>
                  <a:schemeClr val="tx1"/>
                </a:solidFill>
                <a:effectLst/>
                <a:latin typeface="Times New Roman" panose="02020603050405020304" pitchFamily="18" charset="0"/>
                <a:cs typeface="Times New Roman" panose="02020603050405020304" pitchFamily="18" charset="0"/>
              </a:rPr>
              <a:t>: The number of units of the product ordered by customers in each transaction.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11.</a:t>
            </a:r>
            <a:r>
              <a:rPr lang="en-US" sz="1800" b="1" dirty="0">
                <a:solidFill>
                  <a:schemeClr val="tx1"/>
                </a:solidFill>
                <a:effectLst/>
                <a:latin typeface="Times New Roman" panose="02020603050405020304" pitchFamily="18" charset="0"/>
                <a:cs typeface="Times New Roman" panose="02020603050405020304" pitchFamily="18" charset="0"/>
              </a:rPr>
              <a:t>Shipping times</a:t>
            </a:r>
            <a:r>
              <a:rPr lang="en-US" sz="1800" dirty="0">
                <a:solidFill>
                  <a:schemeClr val="tx1"/>
                </a:solidFill>
                <a:effectLst/>
                <a:latin typeface="Times New Roman" panose="02020603050405020304" pitchFamily="18" charset="0"/>
                <a:cs typeface="Times New Roman" panose="02020603050405020304" pitchFamily="18" charset="0"/>
              </a:rPr>
              <a:t>: The time it takes for the product to be shipped from the seller to the customer's location.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12.</a:t>
            </a:r>
            <a:r>
              <a:rPr lang="en-US" sz="1800" b="1" dirty="0">
                <a:solidFill>
                  <a:schemeClr val="tx1"/>
                </a:solidFill>
                <a:effectLst/>
                <a:latin typeface="Times New Roman" panose="02020603050405020304" pitchFamily="18" charset="0"/>
                <a:cs typeface="Times New Roman" panose="02020603050405020304" pitchFamily="18" charset="0"/>
              </a:rPr>
              <a:t>Shipping carriers</a:t>
            </a:r>
            <a:r>
              <a:rPr lang="en-US" sz="1800" dirty="0">
                <a:solidFill>
                  <a:schemeClr val="tx1"/>
                </a:solidFill>
                <a:effectLst/>
                <a:latin typeface="Times New Roman" panose="02020603050405020304" pitchFamily="18" charset="0"/>
                <a:cs typeface="Times New Roman" panose="02020603050405020304" pitchFamily="18" charset="0"/>
              </a:rPr>
              <a:t>: The companies or services responsible for transporting the product from the seller to the customer. </a:t>
            </a:r>
            <a:br>
              <a:rPr lang="en-US" sz="900" dirty="0">
                <a:solidFill>
                  <a:schemeClr val="tx1"/>
                </a:solidFill>
                <a:effectLst/>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13.</a:t>
            </a:r>
            <a:r>
              <a:rPr lang="en-US" sz="1800" b="1" dirty="0">
                <a:solidFill>
                  <a:schemeClr val="tx1"/>
                </a:solidFill>
                <a:effectLst/>
                <a:latin typeface="Times New Roman" panose="02020603050405020304" pitchFamily="18" charset="0"/>
                <a:cs typeface="Times New Roman" panose="02020603050405020304" pitchFamily="18" charset="0"/>
              </a:rPr>
              <a:t>Shipping costs</a:t>
            </a:r>
            <a:r>
              <a:rPr lang="en-US" sz="1800" dirty="0">
                <a:solidFill>
                  <a:schemeClr val="tx1"/>
                </a:solidFill>
                <a:effectLst/>
                <a:latin typeface="Times New Roman" panose="02020603050405020304" pitchFamily="18" charset="0"/>
                <a:cs typeface="Times New Roman" panose="02020603050405020304" pitchFamily="18" charset="0"/>
              </a:rPr>
              <a:t>: The expenses associated with shipping the product to the</a:t>
            </a:r>
            <a:r>
              <a:rPr lang="en-US" sz="4400" dirty="0">
                <a:solidFill>
                  <a:schemeClr val="tx1"/>
                </a:solidFill>
                <a:effectLst/>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c</a:t>
            </a:r>
            <a:r>
              <a:rPr lang="en-US" sz="1800" dirty="0">
                <a:solidFill>
                  <a:schemeClr val="tx1"/>
                </a:solidFill>
                <a:effectLst/>
                <a:latin typeface="Times New Roman" panose="02020603050405020304" pitchFamily="18" charset="0"/>
                <a:cs typeface="Times New Roman" panose="02020603050405020304" pitchFamily="18" charset="0"/>
              </a:rPr>
              <a:t>ustomer, including packaging, handling, and transportation fees.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14.</a:t>
            </a:r>
            <a:r>
              <a:rPr lang="en-US" sz="1800" b="1" dirty="0">
                <a:solidFill>
                  <a:schemeClr val="tx1"/>
                </a:solidFill>
                <a:effectLst/>
                <a:latin typeface="Times New Roman" panose="02020603050405020304" pitchFamily="18" charset="0"/>
                <a:cs typeface="Times New Roman" panose="02020603050405020304" pitchFamily="18" charset="0"/>
              </a:rPr>
              <a:t>Supplier name</a:t>
            </a:r>
            <a:r>
              <a:rPr lang="en-US" sz="1800" dirty="0">
                <a:solidFill>
                  <a:schemeClr val="tx1"/>
                </a:solidFill>
                <a:effectLst/>
                <a:latin typeface="Times New Roman" panose="02020603050405020304" pitchFamily="18" charset="0"/>
                <a:cs typeface="Times New Roman" panose="02020603050405020304" pitchFamily="18" charset="0"/>
              </a:rPr>
              <a:t>: The name of the company or entity that supplies the product to the seller.</a:t>
            </a:r>
            <a:br>
              <a:rPr lang="en-US" sz="1800" dirty="0">
                <a:solidFill>
                  <a:schemeClr val="tx1"/>
                </a:solidFill>
                <a:effectLst/>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15.</a:t>
            </a:r>
            <a:r>
              <a:rPr lang="en-US" sz="1800" b="1" dirty="0">
                <a:solidFill>
                  <a:schemeClr val="tx1"/>
                </a:solidFill>
                <a:effectLst/>
                <a:latin typeface="Times New Roman" panose="02020603050405020304" pitchFamily="18" charset="0"/>
                <a:cs typeface="Times New Roman" panose="02020603050405020304" pitchFamily="18" charset="0"/>
              </a:rPr>
              <a:t>Location (Supplier)</a:t>
            </a:r>
            <a:r>
              <a:rPr lang="en-US" sz="1800" dirty="0">
                <a:solidFill>
                  <a:schemeClr val="tx1"/>
                </a:solidFill>
                <a:effectLst/>
                <a:latin typeface="Times New Roman" panose="02020603050405020304" pitchFamily="18" charset="0"/>
                <a:cs typeface="Times New Roman" panose="02020603050405020304" pitchFamily="18" charset="0"/>
              </a:rPr>
              <a:t>: The geographical location of the supplier's facilities or distribution centers.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16.</a:t>
            </a:r>
            <a:r>
              <a:rPr lang="en-US" sz="1800" b="1" dirty="0">
                <a:solidFill>
                  <a:schemeClr val="tx1"/>
                </a:solidFill>
                <a:effectLst/>
                <a:latin typeface="Times New Roman" panose="02020603050405020304" pitchFamily="18" charset="0"/>
                <a:cs typeface="Times New Roman" panose="02020603050405020304" pitchFamily="18" charset="0"/>
              </a:rPr>
              <a:t>Manufacturing lead time</a:t>
            </a:r>
            <a:r>
              <a:rPr lang="en-US" sz="1800" dirty="0">
                <a:solidFill>
                  <a:schemeClr val="tx1"/>
                </a:solidFill>
                <a:effectLst/>
                <a:latin typeface="Times New Roman" panose="02020603050405020304" pitchFamily="18" charset="0"/>
                <a:cs typeface="Times New Roman" panose="02020603050405020304" pitchFamily="18" charset="0"/>
              </a:rPr>
              <a:t>: The time it takes to manufacture the product from the time the order is placed until it is ready for shipment.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17.</a:t>
            </a:r>
            <a:r>
              <a:rPr lang="en-US" sz="1800" b="1" dirty="0">
                <a:solidFill>
                  <a:schemeClr val="tx1"/>
                </a:solidFill>
                <a:effectLst/>
                <a:latin typeface="Times New Roman" panose="02020603050405020304" pitchFamily="18" charset="0"/>
                <a:cs typeface="Times New Roman" panose="02020603050405020304" pitchFamily="18" charset="0"/>
              </a:rPr>
              <a:t>Production volumes</a:t>
            </a:r>
            <a:r>
              <a:rPr lang="en-US" sz="1800" dirty="0">
                <a:solidFill>
                  <a:schemeClr val="tx1"/>
                </a:solidFill>
                <a:effectLst/>
                <a:latin typeface="Times New Roman" panose="02020603050405020304" pitchFamily="18" charset="0"/>
                <a:cs typeface="Times New Roman" panose="02020603050405020304" pitchFamily="18" charset="0"/>
              </a:rPr>
              <a:t>: The quantity of products produced by the manufacturer within a specific timeframe.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18.</a:t>
            </a:r>
            <a:r>
              <a:rPr lang="en-US" sz="1800" b="1" dirty="0">
                <a:solidFill>
                  <a:schemeClr val="tx1"/>
                </a:solidFill>
                <a:effectLst/>
                <a:latin typeface="Times New Roman" panose="02020603050405020304" pitchFamily="18" charset="0"/>
                <a:cs typeface="Times New Roman" panose="02020603050405020304" pitchFamily="18" charset="0"/>
              </a:rPr>
              <a:t>Manufacturing costs</a:t>
            </a:r>
            <a:r>
              <a:rPr lang="en-US" sz="1800" dirty="0">
                <a:solidFill>
                  <a:schemeClr val="tx1"/>
                </a:solidFill>
                <a:effectLst/>
                <a:latin typeface="Times New Roman" panose="02020603050405020304" pitchFamily="18" charset="0"/>
                <a:cs typeface="Times New Roman" panose="02020603050405020304" pitchFamily="18" charset="0"/>
              </a:rPr>
              <a:t>: The expenses incurred in the process of manufacturing the product, including materials, labor, and overhead costs.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19.</a:t>
            </a:r>
            <a:r>
              <a:rPr lang="en-US" sz="1800" b="1" dirty="0">
                <a:solidFill>
                  <a:schemeClr val="tx1"/>
                </a:solidFill>
                <a:effectLst/>
                <a:latin typeface="Times New Roman" panose="02020603050405020304" pitchFamily="18" charset="0"/>
                <a:cs typeface="Times New Roman" panose="02020603050405020304" pitchFamily="18" charset="0"/>
              </a:rPr>
              <a:t>Inspection results</a:t>
            </a:r>
            <a:r>
              <a:rPr lang="en-US" sz="1800" dirty="0">
                <a:solidFill>
                  <a:schemeClr val="tx1"/>
                </a:solidFill>
                <a:effectLst/>
                <a:latin typeface="Times New Roman" panose="02020603050405020304" pitchFamily="18" charset="0"/>
                <a:cs typeface="Times New Roman" panose="02020603050405020304" pitchFamily="18" charset="0"/>
              </a:rPr>
              <a:t>: The outcomes of quality control inspections performed on he product during or after manufacturing.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20.</a:t>
            </a:r>
            <a:r>
              <a:rPr lang="en-US" sz="1800" b="1" dirty="0">
                <a:solidFill>
                  <a:schemeClr val="tx1"/>
                </a:solidFill>
                <a:effectLst/>
                <a:latin typeface="Times New Roman" panose="02020603050405020304" pitchFamily="18" charset="0"/>
                <a:cs typeface="Times New Roman" panose="02020603050405020304" pitchFamily="18" charset="0"/>
              </a:rPr>
              <a:t>Defect rates</a:t>
            </a:r>
            <a:r>
              <a:rPr lang="en-US" sz="1800" dirty="0">
                <a:solidFill>
                  <a:schemeClr val="tx1"/>
                </a:solidFill>
                <a:effectLst/>
                <a:latin typeface="Times New Roman" panose="02020603050405020304" pitchFamily="18" charset="0"/>
                <a:cs typeface="Times New Roman" panose="02020603050405020304" pitchFamily="18" charset="0"/>
              </a:rPr>
              <a:t>: The percentage of defective or non-conforming products identified during quality control inspections.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21.</a:t>
            </a:r>
            <a:r>
              <a:rPr lang="en-US" sz="1800" b="1" dirty="0">
                <a:solidFill>
                  <a:schemeClr val="tx1"/>
                </a:solidFill>
                <a:effectLst/>
                <a:latin typeface="Times New Roman" panose="02020603050405020304" pitchFamily="18" charset="0"/>
                <a:cs typeface="Times New Roman" panose="02020603050405020304" pitchFamily="18" charset="0"/>
              </a:rPr>
              <a:t>Transportation modes</a:t>
            </a:r>
            <a:r>
              <a:rPr lang="en-US" sz="1800" dirty="0">
                <a:solidFill>
                  <a:schemeClr val="tx1"/>
                </a:solidFill>
                <a:effectLst/>
                <a:latin typeface="Times New Roman" panose="02020603050405020304" pitchFamily="18" charset="0"/>
                <a:cs typeface="Times New Roman" panose="02020603050405020304" pitchFamily="18" charset="0"/>
              </a:rPr>
              <a:t>: The methods or modes of transportation used to move the product between locations, such as air, sea, road, or rail. </a:t>
            </a:r>
            <a:br>
              <a:rPr lang="en-US" sz="9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effectLst/>
                <a:latin typeface="Times New Roman" panose="02020603050405020304" pitchFamily="18" charset="0"/>
                <a:cs typeface="Times New Roman" panose="02020603050405020304" pitchFamily="18" charset="0"/>
              </a:rPr>
              <a:t>22.</a:t>
            </a:r>
            <a:r>
              <a:rPr lang="en-US" sz="1800" b="1" dirty="0">
                <a:solidFill>
                  <a:schemeClr val="tx1"/>
                </a:solidFill>
                <a:effectLst/>
                <a:latin typeface="Times New Roman" panose="02020603050405020304" pitchFamily="18" charset="0"/>
                <a:cs typeface="Times New Roman" panose="02020603050405020304" pitchFamily="18" charset="0"/>
              </a:rPr>
              <a:t>Routes and costs</a:t>
            </a:r>
            <a:r>
              <a:rPr lang="en-US" sz="1800" dirty="0">
                <a:solidFill>
                  <a:schemeClr val="tx1"/>
                </a:solidFill>
                <a:effectLst/>
                <a:latin typeface="Times New Roman" panose="02020603050405020304" pitchFamily="18" charset="0"/>
                <a:cs typeface="Times New Roman" panose="02020603050405020304" pitchFamily="18" charset="0"/>
              </a:rPr>
              <a:t>: The specific routes taken by the product during transportation and associated costs, including fees for tolls, customs, etc.</a:t>
            </a:r>
            <a:endParaRPr lang="en-IN" sz="9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itle 10">
            <a:extLst>
              <a:ext uri="{FF2B5EF4-FFF2-40B4-BE49-F238E27FC236}">
                <a16:creationId xmlns:a16="http://schemas.microsoft.com/office/drawing/2014/main" id="{3E30E013-985E-429F-AAA9-8932861C5D91}"/>
              </a:ext>
            </a:extLst>
          </p:cNvPr>
          <p:cNvSpPr txBox="1">
            <a:spLocks/>
          </p:cNvSpPr>
          <p:nvPr/>
        </p:nvSpPr>
        <p:spPr>
          <a:xfrm>
            <a:off x="204651" y="160927"/>
            <a:ext cx="9860280" cy="646331"/>
          </a:xfrm>
          <a:prstGeom prst="rect">
            <a:avLst/>
          </a:prstGeom>
          <a:ln w="9525" cap="rnd" cmpd="sng" algn="ctr">
            <a:solidFill>
              <a:srgbClr val="993300"/>
            </a:solidFill>
            <a:prstDash val="soli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rtlCol="0" anchor="t">
            <a:spAutoFit/>
          </a:bodyPr>
          <a:lstStyle>
            <a:lvl1pPr algn="l" defTabSz="457200" rtl="0" eaLnBrk="1" latinLnBrk="0" hangingPunct="1">
              <a:spcBef>
                <a:spcPct val="0"/>
              </a:spcBef>
              <a:buNone/>
              <a:defRPr sz="4200" b="0" i="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a:r>
              <a:rPr lang="en-IN" sz="3600">
                <a:latin typeface="Times New Roman" panose="02020603050405020304" pitchFamily="18" charset="0"/>
                <a:cs typeface="Times New Roman" panose="02020603050405020304" pitchFamily="18" charset="0"/>
              </a:rPr>
              <a:t>TOPIC : SUPPLY CHAIN ANALYIS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489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177ED9-BA07-FF9D-9476-1E08ABF64892}"/>
              </a:ext>
            </a:extLst>
          </p:cNvPr>
          <p:cNvSpPr txBox="1"/>
          <p:nvPr/>
        </p:nvSpPr>
        <p:spPr>
          <a:xfrm>
            <a:off x="783431" y="2534659"/>
            <a:ext cx="10625137" cy="1477328"/>
          </a:xfrm>
          <a:prstGeom prst="rect">
            <a:avLst/>
          </a:prstGeom>
          <a:noFill/>
        </p:spPr>
        <p:txBody>
          <a:bodyPr wrap="square">
            <a:spAutoFit/>
          </a:bodyPr>
          <a:lstStyle/>
          <a:p>
            <a:r>
              <a:rPr lang="en-US" sz="3000" b="1" dirty="0">
                <a:effectLst/>
                <a:latin typeface="Times New Roman" panose="02020603050405020304" pitchFamily="18" charset="0"/>
              </a:rPr>
              <a:t>Analyze the data using Tableau or Power BI and write an analysis report. You can provide your inputs/solution to company. </a:t>
            </a:r>
            <a:endParaRPr lang="en-US" sz="3000" b="1" dirty="0">
              <a:effectLst/>
              <a:latin typeface="Times New Roman" panose="02020603050405020304" pitchFamily="18" charset="0"/>
              <a:cs typeface="Times New Roman" panose="02020603050405020304" pitchFamily="18" charset="0"/>
            </a:endParaRPr>
          </a:p>
        </p:txBody>
      </p:sp>
      <p:sp>
        <p:nvSpPr>
          <p:cNvPr id="6" name="Title 10">
            <a:extLst>
              <a:ext uri="{FF2B5EF4-FFF2-40B4-BE49-F238E27FC236}">
                <a16:creationId xmlns:a16="http://schemas.microsoft.com/office/drawing/2014/main" id="{411BB504-F082-467E-8945-5BE36AD82AD1}"/>
              </a:ext>
            </a:extLst>
          </p:cNvPr>
          <p:cNvSpPr txBox="1">
            <a:spLocks noGrp="1"/>
          </p:cNvSpPr>
          <p:nvPr>
            <p:ph type="title"/>
          </p:nvPr>
        </p:nvSpPr>
        <p:spPr>
          <a:xfrm>
            <a:off x="376710" y="311052"/>
            <a:ext cx="9860280" cy="707886"/>
          </a:xfrm>
          <a:prstGeom prst="rect">
            <a:avLst/>
          </a:prstGeom>
          <a:ln>
            <a:solidFill>
              <a:srgbClr val="993300"/>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en-IN" sz="4000" dirty="0">
                <a:latin typeface="Times New Roman" panose="02020603050405020304" pitchFamily="18" charset="0"/>
                <a:cs typeface="Times New Roman" panose="02020603050405020304" pitchFamily="18" charset="0"/>
              </a:rPr>
              <a:t>TOPIC : SUPPLY CHAIN ANALYIS</a:t>
            </a:r>
          </a:p>
        </p:txBody>
      </p:sp>
    </p:spTree>
    <p:extLst>
      <p:ext uri="{BB962C8B-B14F-4D97-AF65-F5344CB8AC3E}">
        <p14:creationId xmlns:p14="http://schemas.microsoft.com/office/powerpoint/2010/main" val="1086697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058E12-317B-0E47-C4A8-4A5DAD03CD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182" y="529846"/>
            <a:ext cx="10669635" cy="5992189"/>
          </a:xfrm>
          <a:prstGeom prst="rect">
            <a:avLst/>
          </a:prstGeom>
        </p:spPr>
      </p:pic>
    </p:spTree>
    <p:extLst>
      <p:ext uri="{BB962C8B-B14F-4D97-AF65-F5344CB8AC3E}">
        <p14:creationId xmlns:p14="http://schemas.microsoft.com/office/powerpoint/2010/main" val="398733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D39F-6A18-0E02-46C3-D8547EF29C37}"/>
              </a:ext>
            </a:extLst>
          </p:cNvPr>
          <p:cNvSpPr>
            <a:spLocks noGrp="1"/>
          </p:cNvSpPr>
          <p:nvPr>
            <p:ph type="title"/>
          </p:nvPr>
        </p:nvSpPr>
        <p:spPr>
          <a:xfrm>
            <a:off x="838200" y="681037"/>
            <a:ext cx="10515600" cy="783969"/>
          </a:xfrm>
        </p:spPr>
        <p:style>
          <a:lnRef idx="1">
            <a:schemeClr val="accent4"/>
          </a:lnRef>
          <a:fillRef idx="2">
            <a:schemeClr val="accent4"/>
          </a:fillRef>
          <a:effectRef idx="1">
            <a:schemeClr val="accent4"/>
          </a:effectRef>
          <a:fontRef idx="minor">
            <a:schemeClr val="dk1"/>
          </a:fontRef>
        </p:style>
        <p:txBody>
          <a:bodyPr/>
          <a:lstStyle/>
          <a:p>
            <a:pPr algn="ctr"/>
            <a:r>
              <a:rPr lang="en-IN" sz="4000" b="1" dirty="0">
                <a:latin typeface="Times New Roman" panose="02020603050405020304" pitchFamily="18" charset="0"/>
                <a:cs typeface="Times New Roman" panose="02020603050405020304" pitchFamily="18" charset="0"/>
              </a:rPr>
              <a:t>Analysing the Supply Chain Dashboard</a:t>
            </a:r>
          </a:p>
        </p:txBody>
      </p:sp>
      <p:sp>
        <p:nvSpPr>
          <p:cNvPr id="3" name="Content Placeholder 2">
            <a:extLst>
              <a:ext uri="{FF2B5EF4-FFF2-40B4-BE49-F238E27FC236}">
                <a16:creationId xmlns:a16="http://schemas.microsoft.com/office/drawing/2014/main" id="{4EB0CE67-65F2-673B-F595-EE6B56056BE5}"/>
              </a:ext>
            </a:extLst>
          </p:cNvPr>
          <p:cNvSpPr>
            <a:spLocks noGrp="1"/>
          </p:cNvSpPr>
          <p:nvPr>
            <p:ph idx="1"/>
          </p:nvPr>
        </p:nvSpPr>
        <p:spPr>
          <a:xfrm>
            <a:off x="838200" y="2052918"/>
            <a:ext cx="10515600" cy="4124045"/>
          </a:xfrm>
        </p:spPr>
        <p:txBody>
          <a:bodyPr>
            <a:noAutofit/>
          </a:bodyPr>
          <a:lstStyle/>
          <a:p>
            <a:pPr marL="0" indent="0" algn="just">
              <a:lnSpc>
                <a:spcPct val="150000"/>
              </a:lnSpc>
              <a:buNone/>
            </a:pPr>
            <a:r>
              <a:rPr lang="en-US" sz="2000" b="1" u="sng" dirty="0">
                <a:latin typeface="Times New Roman" panose="02020603050405020304" pitchFamily="18" charset="0"/>
                <a:ea typeface="Calibri" panose="020F0502020204030204" pitchFamily="34" charset="0"/>
                <a:cs typeface="Times New Roman" panose="02020603050405020304" pitchFamily="18" charset="0"/>
              </a:rPr>
              <a:t>OVERVIEW</a:t>
            </a:r>
            <a:r>
              <a:rPr lang="en-US"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This Supply Chain Comparison Dashboard provides an overview of critical supply chain metrics across three product categories cosmetics, haircare, and skincare. The dashboard allows stakeholders to compare performance in key areas such as revenue, costs, stock levels, and product inspection results, offering a clear view of each product type's supply chain efficiency.</a:t>
            </a: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8" name="Rectangle 4">
            <a:extLst>
              <a:ext uri="{FF2B5EF4-FFF2-40B4-BE49-F238E27FC236}">
                <a16:creationId xmlns:a16="http://schemas.microsoft.com/office/drawing/2014/main" id="{562BA58D-5F48-549D-6681-8640D9F1A4A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662CE4F4-800E-F1C2-4762-B1D10995F04D}"/>
              </a:ext>
            </a:extLst>
          </p:cNvPr>
          <p:cNvSpPr>
            <a:spLocks noChangeArrowheads="1"/>
          </p:cNvSpPr>
          <p:nvPr/>
        </p:nvSpPr>
        <p:spPr bwMode="auto">
          <a:xfrm>
            <a:off x="152400"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4">
            <a:extLst>
              <a:ext uri="{FF2B5EF4-FFF2-40B4-BE49-F238E27FC236}">
                <a16:creationId xmlns:a16="http://schemas.microsoft.com/office/drawing/2014/main" id="{5D80CD5E-BF4B-4EE2-FD93-EC535E4210BE}"/>
              </a:ext>
            </a:extLst>
          </p:cNvPr>
          <p:cNvSpPr>
            <a:spLocks noChangeArrowheads="1"/>
          </p:cNvSpPr>
          <p:nvPr/>
        </p:nvSpPr>
        <p:spPr bwMode="auto">
          <a:xfrm>
            <a:off x="304800" y="120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4040B5FA-E878-C4CA-32FB-F4D5C0F0B571}"/>
              </a:ext>
            </a:extLst>
          </p:cNvPr>
          <p:cNvSpPr>
            <a:spLocks noChangeArrowheads="1"/>
          </p:cNvSpPr>
          <p:nvPr/>
        </p:nvSpPr>
        <p:spPr bwMode="auto">
          <a:xfrm>
            <a:off x="457200" y="272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7515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0C07-0CEF-A006-6ACA-ABB96E3C28D8}"/>
              </a:ext>
            </a:extLst>
          </p:cNvPr>
          <p:cNvSpPr>
            <a:spLocks noGrp="1"/>
          </p:cNvSpPr>
          <p:nvPr>
            <p:ph type="title"/>
          </p:nvPr>
        </p:nvSpPr>
        <p:spPr>
          <a:xfrm>
            <a:off x="926691" y="601099"/>
            <a:ext cx="10515600" cy="795081"/>
          </a:xfrm>
        </p:spPr>
        <p:style>
          <a:lnRef idx="1">
            <a:schemeClr val="accent4"/>
          </a:lnRef>
          <a:fillRef idx="2">
            <a:schemeClr val="accent4"/>
          </a:fillRef>
          <a:effectRef idx="1">
            <a:schemeClr val="accent4"/>
          </a:effectRef>
          <a:fontRef idx="minor">
            <a:schemeClr val="dk1"/>
          </a:fontRef>
        </p:style>
        <p:txBody>
          <a:bodyPr/>
          <a:lstStyle/>
          <a:p>
            <a:pPr algn="ctr"/>
            <a:r>
              <a:rPr lang="en-US" b="1" dirty="0"/>
              <a:t>Analyzing prices by products</a:t>
            </a:r>
            <a:endParaRPr lang="en-IN" b="1" dirty="0"/>
          </a:p>
        </p:txBody>
      </p:sp>
      <p:sp>
        <p:nvSpPr>
          <p:cNvPr id="3" name="Content Placeholder 2">
            <a:extLst>
              <a:ext uri="{FF2B5EF4-FFF2-40B4-BE49-F238E27FC236}">
                <a16:creationId xmlns:a16="http://schemas.microsoft.com/office/drawing/2014/main" id="{E2AAD365-1BB6-78E2-F0AB-B2B1AF133EC2}"/>
              </a:ext>
            </a:extLst>
          </p:cNvPr>
          <p:cNvSpPr>
            <a:spLocks noGrp="1"/>
          </p:cNvSpPr>
          <p:nvPr>
            <p:ph idx="1"/>
          </p:nvPr>
        </p:nvSpPr>
        <p:spPr>
          <a:xfrm>
            <a:off x="361951" y="1651379"/>
            <a:ext cx="7321740" cy="4176215"/>
          </a:xfrm>
        </p:spPr>
        <p:txBody>
          <a:bodyPr/>
          <a:lstStyle/>
          <a:p>
            <a:pPr algn="just"/>
            <a:r>
              <a:rPr lang="en-US" sz="2400" b="1" dirty="0">
                <a:latin typeface="Times New Roman" panose="02020603050405020304" pitchFamily="18" charset="0"/>
                <a:cs typeface="Times New Roman" panose="02020603050405020304" pitchFamily="18" charset="0"/>
              </a:rPr>
              <a:t>Key Observations:</a:t>
            </a:r>
            <a:endParaRPr lang="en-US" sz="24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Price by Product chart compares the prices of three different product categories skincare, haircare, and cosmetics. Skincare products are priced the highest at 1.9K, indicated by a green bar, followed by haircare at 1.6K, represented by a brown bar. Cosmetics, shown with a purple bar, have the lowest price at 1.5K. This comparison suggests that skincare products hold a premium position in pricing, while haircare and cosmetics are more moderately priced, with only a slight difference between the two. This pricing strategy could reflect variations in product demand, production costs, or market positioning across these categories.</a:t>
            </a:r>
            <a:endParaRPr lang="en-IN"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12488A7-AE74-76DC-11A3-E630C47D0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5264" y="1971582"/>
            <a:ext cx="4014786" cy="3300506"/>
          </a:xfrm>
          <a:prstGeom prst="rect">
            <a:avLst/>
          </a:prstGeom>
        </p:spPr>
      </p:pic>
    </p:spTree>
    <p:extLst>
      <p:ext uri="{BB962C8B-B14F-4D97-AF65-F5344CB8AC3E}">
        <p14:creationId xmlns:p14="http://schemas.microsoft.com/office/powerpoint/2010/main" val="3227430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7D377-416D-E425-3FA0-7E9C9D2A4D6D}"/>
              </a:ext>
            </a:extLst>
          </p:cNvPr>
          <p:cNvSpPr>
            <a:spLocks noGrp="1"/>
          </p:cNvSpPr>
          <p:nvPr>
            <p:ph type="title"/>
          </p:nvPr>
        </p:nvSpPr>
        <p:spPr>
          <a:xfrm>
            <a:off x="838200" y="452283"/>
            <a:ext cx="10515600" cy="796413"/>
          </a:xfrm>
        </p:spPr>
        <p:style>
          <a:lnRef idx="1">
            <a:schemeClr val="accent4"/>
          </a:lnRef>
          <a:fillRef idx="2">
            <a:schemeClr val="accent4"/>
          </a:fillRef>
          <a:effectRef idx="1">
            <a:schemeClr val="accent4"/>
          </a:effectRef>
          <a:fontRef idx="minor">
            <a:schemeClr val="dk1"/>
          </a:fontRef>
        </p:style>
        <p:txBody>
          <a:bodyPr>
            <a:normAutofit/>
          </a:bodyPr>
          <a:lstStyle/>
          <a:p>
            <a:pPr algn="ctr"/>
            <a:r>
              <a:rPr lang="en-US" sz="3200" b="1" dirty="0"/>
              <a:t>Analyzing revenue generated by product type </a:t>
            </a:r>
            <a:endParaRPr lang="en-IN" sz="3200" b="1" dirty="0"/>
          </a:p>
        </p:txBody>
      </p:sp>
      <p:sp>
        <p:nvSpPr>
          <p:cNvPr id="3" name="Content Placeholder 2">
            <a:extLst>
              <a:ext uri="{FF2B5EF4-FFF2-40B4-BE49-F238E27FC236}">
                <a16:creationId xmlns:a16="http://schemas.microsoft.com/office/drawing/2014/main" id="{178C8A32-4D20-EF3F-E87E-D10411737304}"/>
              </a:ext>
            </a:extLst>
          </p:cNvPr>
          <p:cNvSpPr>
            <a:spLocks noGrp="1"/>
          </p:cNvSpPr>
          <p:nvPr>
            <p:ph idx="1"/>
          </p:nvPr>
        </p:nvSpPr>
        <p:spPr>
          <a:xfrm>
            <a:off x="830239" y="1463701"/>
            <a:ext cx="6334275" cy="4702124"/>
          </a:xfrm>
        </p:spPr>
        <p:txBody>
          <a:bodyPr>
            <a:normAutofit lnSpcReduction="10000"/>
          </a:bodyPr>
          <a:lstStyle/>
          <a:p>
            <a:pPr algn="just"/>
            <a:r>
              <a:rPr lang="en-US" sz="2000" b="1" dirty="0">
                <a:latin typeface="Times New Roman" panose="02020603050405020304" pitchFamily="18" charset="0"/>
                <a:cs typeface="Times New Roman" panose="02020603050405020304" pitchFamily="18" charset="0"/>
              </a:rPr>
              <a:t>Key Observations:</a:t>
            </a:r>
            <a:endParaRPr lang="en-US" sz="2000" dirty="0">
              <a:latin typeface="Times New Roman" panose="02020603050405020304" pitchFamily="18" charset="0"/>
              <a:cs typeface="Times New Roman" panose="02020603050405020304" pitchFamily="18" charset="0"/>
            </a:endParaRPr>
          </a:p>
          <a:p>
            <a:pPr marL="0" indent="0" algn="just">
              <a:buNone/>
            </a:pPr>
            <a:r>
              <a:rPr lang="en-US" sz="2500" dirty="0">
                <a:latin typeface="Times New Roman" panose="02020603050405020304" pitchFamily="18" charset="0"/>
                <a:cs typeface="Times New Roman" panose="02020603050405020304" pitchFamily="18" charset="0"/>
              </a:rPr>
              <a:t>The "Revenue Generated by Product Type" chart shows that skincare products generate the highest revenue at 0.24M, followed by haircare at 0.17M, and cosmetics at 0.16M. This indicates that skincare products contribute the most to overall sales, while haircare and cosmetics have relatively lower but close revenue figures. The chart highlights skincare’s dominant market position in terms of sales performance compared to the other product types.</a:t>
            </a:r>
            <a:endParaRPr lang="en-IN" sz="25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D368E43-99EA-CD56-F42B-8891E549F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913" y="2185988"/>
            <a:ext cx="4052887" cy="3257550"/>
          </a:xfrm>
          <a:prstGeom prst="rect">
            <a:avLst/>
          </a:prstGeom>
        </p:spPr>
      </p:pic>
    </p:spTree>
    <p:extLst>
      <p:ext uri="{BB962C8B-B14F-4D97-AF65-F5344CB8AC3E}">
        <p14:creationId xmlns:p14="http://schemas.microsoft.com/office/powerpoint/2010/main" val="1716239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F596-AE71-6A59-7356-53A3CC6C1FD2}"/>
              </a:ext>
            </a:extLst>
          </p:cNvPr>
          <p:cNvSpPr txBox="1">
            <a:spLocks/>
          </p:cNvSpPr>
          <p:nvPr/>
        </p:nvSpPr>
        <p:spPr>
          <a:xfrm>
            <a:off x="988325" y="272955"/>
            <a:ext cx="9042780" cy="655732"/>
          </a:xfrm>
          <a:prstGeom prst="rect">
            <a:avLst/>
          </a:prstGeom>
        </p:spPr>
        <p:style>
          <a:lnRef idx="1">
            <a:schemeClr val="accent4"/>
          </a:lnRef>
          <a:fillRef idx="2">
            <a:schemeClr val="accent4"/>
          </a:fillRef>
          <a:effectRef idx="1">
            <a:schemeClr val="accent4"/>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3200" b="1" dirty="0">
                <a:latin typeface="Times New Roman" panose="02020603050405020304" pitchFamily="18" charset="0"/>
                <a:cs typeface="Times New Roman" panose="02020603050405020304" pitchFamily="18" charset="0"/>
              </a:rPr>
              <a:t>KPIs Information</a:t>
            </a:r>
            <a:endParaRPr lang="en-IN" sz="32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601EB67-4E23-4EE1-BBB8-87183F97105F}"/>
              </a:ext>
            </a:extLst>
          </p:cNvPr>
          <p:cNvSpPr>
            <a:spLocks noGrp="1"/>
          </p:cNvSpPr>
          <p:nvPr>
            <p:ph idx="1"/>
          </p:nvPr>
        </p:nvSpPr>
        <p:spPr>
          <a:xfrm>
            <a:off x="838200" y="1428750"/>
            <a:ext cx="10721454" cy="4753685"/>
          </a:xfrm>
        </p:spPr>
        <p:txBody>
          <a:bodyPr>
            <a:normAutofit/>
          </a:bodyPr>
          <a:lstStyle/>
          <a:p>
            <a:pPr algn="just"/>
            <a:r>
              <a:rPr lang="en-US" sz="2500" dirty="0">
                <a:latin typeface="Times New Roman" panose="02020603050405020304" pitchFamily="18" charset="0"/>
                <a:cs typeface="Times New Roman" panose="02020603050405020304" pitchFamily="18" charset="0"/>
              </a:rPr>
              <a:t>The KPIs derived from the above attributes help monitor the performance across various stages of the supply chain: from production, inventory management, and quality control, to shipping and customer satisfaction. By tracking these KPIs, businesses can identify bottlenecks, optimize processes, reduce costs, and improve overall supply chain efficiency.</a:t>
            </a:r>
          </a:p>
          <a:p>
            <a:pPr algn="just"/>
            <a:endParaRPr lang="en-US" sz="25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2D8362D-F78C-B6AE-B354-2726576C10CB}"/>
              </a:ext>
            </a:extLst>
          </p:cNvPr>
          <p:cNvPicPr>
            <a:picLocks noChangeAspect="1"/>
          </p:cNvPicPr>
          <p:nvPr/>
        </p:nvPicPr>
        <p:blipFill>
          <a:blip r:embed="rId2"/>
          <a:stretch>
            <a:fillRect/>
          </a:stretch>
        </p:blipFill>
        <p:spPr>
          <a:xfrm>
            <a:off x="1343026" y="3885984"/>
            <a:ext cx="9172574" cy="2043329"/>
          </a:xfrm>
          <a:prstGeom prst="rect">
            <a:avLst/>
          </a:prstGeom>
        </p:spPr>
      </p:pic>
    </p:spTree>
    <p:extLst>
      <p:ext uri="{BB962C8B-B14F-4D97-AF65-F5344CB8AC3E}">
        <p14:creationId xmlns:p14="http://schemas.microsoft.com/office/powerpoint/2010/main" val="632946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82D81-FCA4-C535-92DF-2559F5B1A24C}"/>
              </a:ext>
            </a:extLst>
          </p:cNvPr>
          <p:cNvSpPr>
            <a:spLocks noGrp="1"/>
          </p:cNvSpPr>
          <p:nvPr>
            <p:ph type="title"/>
          </p:nvPr>
        </p:nvSpPr>
        <p:spPr>
          <a:xfrm>
            <a:off x="659606" y="610785"/>
            <a:ext cx="10515600" cy="735013"/>
          </a:xfrm>
        </p:spPr>
        <p:txBody>
          <a:bodyPr>
            <a:normAutofit/>
          </a:bodyPr>
          <a:lstStyle/>
          <a:p>
            <a:r>
              <a:rPr lang="en-US" sz="3500" b="1" dirty="0">
                <a:latin typeface="Times New Roman" panose="02020603050405020304" pitchFamily="18" charset="0"/>
                <a:cs typeface="Times New Roman" panose="02020603050405020304" pitchFamily="18" charset="0"/>
              </a:rPr>
              <a:t>Conclusion:</a:t>
            </a:r>
            <a:endParaRPr lang="en-IN" sz="35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6D3AB39-8EDA-B3B1-F37A-700C106BB01E}"/>
              </a:ext>
            </a:extLst>
          </p:cNvPr>
          <p:cNvSpPr txBox="1"/>
          <p:nvPr/>
        </p:nvSpPr>
        <p:spPr>
          <a:xfrm>
            <a:off x="659606" y="2132251"/>
            <a:ext cx="10872787" cy="3108543"/>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Overall, the Supply Chain Comparison Dashboard provides valuable insights into product performance, pricing strategies, and operational efficiencies. By leveraging this information, stakeholders can make informed decisions to optimize the supply chain, enhance customer satisfaction, and drive overall business growth. Continuous monitoring and analysis of these metrics will be essential for adapting to market changes and maintaining a competitive edge.</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60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74AF-E8D4-4A21-4B8D-572151EB0382}"/>
              </a:ext>
            </a:extLst>
          </p:cNvPr>
          <p:cNvSpPr>
            <a:spLocks noGrp="1"/>
          </p:cNvSpPr>
          <p:nvPr>
            <p:ph type="title"/>
          </p:nvPr>
        </p:nvSpPr>
        <p:spPr>
          <a:xfrm>
            <a:off x="738187" y="2508250"/>
            <a:ext cx="10515600" cy="1325563"/>
          </a:xfrm>
        </p:spPr>
        <p:txBody>
          <a:bodyPr/>
          <a:lstStyle/>
          <a:p>
            <a:pPr algn="ctr"/>
            <a:r>
              <a:rPr lang="en-IN" dirty="0">
                <a:latin typeface="Algerian" panose="04020705040A02060702" pitchFamily="82" charset="0"/>
              </a:rPr>
              <a:t>The End</a:t>
            </a:r>
          </a:p>
        </p:txBody>
      </p:sp>
    </p:spTree>
    <p:extLst>
      <p:ext uri="{BB962C8B-B14F-4D97-AF65-F5344CB8AC3E}">
        <p14:creationId xmlns:p14="http://schemas.microsoft.com/office/powerpoint/2010/main" val="29234741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232</TotalTime>
  <Words>1037</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Century Gothic</vt:lpstr>
      <vt:lpstr>Times New Roman</vt:lpstr>
      <vt:lpstr>Wingdings 3</vt:lpstr>
      <vt:lpstr>Ion</vt:lpstr>
      <vt:lpstr> Project Team ID:   PTID-CDA-DEC-1016 </vt:lpstr>
      <vt:lpstr>SUPPLY CHAIN ANALYSIS</vt:lpstr>
      <vt:lpstr>TOPIC : SUPPLY CHAIN ANALYIS</vt:lpstr>
      <vt:lpstr>10.Order quantities: The number of units of the product ordered by customers in each transaction.  11.Shipping times: The time it takes for the product to be shipped from the seller to the customer's location.  12.Shipping carriers: The companies or services responsible for transporting the product from the seller to the customer.  13.Shipping costs: The expenses associated with shipping the product to the customer, including packaging, handling, and transportation fees.  14.Supplier name: The name of the company or entity that supplies the product to the seller. 15.Location (Supplier): The geographical location of the supplier's facilities or distribution centers.  16.Manufacturing lead time: The time it takes to manufacture the product from the time the order is placed until it is ready for shipment.  17.Production volumes: The quantity of products produced by the manufacturer within a specific timeframe.  18.Manufacturing costs: The expenses incurred in the process of manufacturing the product, including materials, labor, and overhead costs.  19.Inspection results: The outcomes of quality control inspections performed on he product during or after manufacturing.  20.Defect rates: The percentage of defective or non-conforming products identified during quality control inspections.  21.Transportation modes: The methods or modes of transportation used to move the product between locations, such as air, sea, road, or rail.  22.Routes and costs: The specific routes taken by the product during transportation and associated costs, including fees for tolls, customs, etc.</vt:lpstr>
      <vt:lpstr>TOPIC : SUPPLY CHAIN ANALYIS</vt:lpstr>
      <vt:lpstr>PowerPoint Presentation</vt:lpstr>
      <vt:lpstr>Analysing the Supply Chain Dashboard</vt:lpstr>
      <vt:lpstr>Analyzing prices by products</vt:lpstr>
      <vt:lpstr>Analyzing revenue generated by product type </vt:lpstr>
      <vt:lpstr>PowerPoint Presentation</vt:lpstr>
      <vt:lpstr>Conclusion: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Team ID:   PTID-CDA-AUG-24-200</dc:title>
  <dc:creator>PR Sanjana</dc:creator>
  <cp:lastModifiedBy>Windows User</cp:lastModifiedBy>
  <cp:revision>11</cp:revision>
  <dcterms:created xsi:type="dcterms:W3CDTF">2024-09-04T01:25:40Z</dcterms:created>
  <dcterms:modified xsi:type="dcterms:W3CDTF">2026-02-22T16:49:12Z</dcterms:modified>
</cp:coreProperties>
</file>